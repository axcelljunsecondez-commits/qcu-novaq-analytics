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764d7fd6dd444c" /><Relationship Type="http://schemas.openxmlformats.org/officeDocument/2006/relationships/extended-properties" Target="/docProps/app.xml" Id="Rc5067cc2a66444ac" /><Relationship Type="http://schemas.openxmlformats.org/officeDocument/2006/relationships/officeDocument" Target="/ppt/presentation.xml" Id="Rce1331f464084c2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aa94c0eb14f4664"/>
  </p:sldMasterIdLst>
  <p:notesMasterIdLst>
    <p:notesMasterId xmlns:r="http://schemas.openxmlformats.org/officeDocument/2006/relationships" r:id="R6bbacad2ecc44a9a"/>
  </p:notesMasterIdLst>
  <p:sldIdLst>
    <p:sldId xmlns:r="http://schemas.openxmlformats.org/officeDocument/2006/relationships" id="256" r:id="R41b67a29ada543a4"/>
    <p:sldId xmlns:r="http://schemas.openxmlformats.org/officeDocument/2006/relationships" id="257" r:id="R6f8835c4246c412e"/>
    <p:sldId xmlns:r="http://schemas.openxmlformats.org/officeDocument/2006/relationships" id="258" r:id="R9866abb8eb004e6a"/>
    <p:sldId xmlns:r="http://schemas.openxmlformats.org/officeDocument/2006/relationships" id="259" r:id="R338abb5856d544f3"/>
    <p:sldId xmlns:r="http://schemas.openxmlformats.org/officeDocument/2006/relationships" id="260" r:id="R1ecc255a79434f22"/>
    <p:sldId xmlns:r="http://schemas.openxmlformats.org/officeDocument/2006/relationships" id="261" r:id="R8e09d6685cfd47fc"/>
    <p:sldId xmlns:r="http://schemas.openxmlformats.org/officeDocument/2006/relationships" id="262" r:id="Rf65bb76e2b3046c0"/>
    <p:sldId xmlns:r="http://schemas.openxmlformats.org/officeDocument/2006/relationships" id="263" r:id="R47d3d7347007436e"/>
    <p:sldId xmlns:r="http://schemas.openxmlformats.org/officeDocument/2006/relationships" id="264" r:id="R90ecd8aefd014695"/>
    <p:sldId xmlns:r="http://schemas.openxmlformats.org/officeDocument/2006/relationships" id="265" r:id="R7aee025976084030"/>
    <p:sldId xmlns:r="http://schemas.openxmlformats.org/officeDocument/2006/relationships" id="266" r:id="R255359a5ca054380"/>
    <p:sldId xmlns:r="http://schemas.openxmlformats.org/officeDocument/2006/relationships" id="267" r:id="R5d41497321bb46a3"/>
    <p:sldId xmlns:r="http://schemas.openxmlformats.org/officeDocument/2006/relationships" id="268" r:id="R35592b12a7b745d2"/>
  </p:sldIdLst>
  <p:sldSz cx="18288000" cy="10287000"/>
  <p:notesSz cx="6858000" cy="9144000"/>
  <p:embeddedFontLst>
    <p:embeddedFont>
      <p:font typeface="Calibri"/>
      <p:regular xmlns:r="http://schemas.openxmlformats.org/officeDocument/2006/relationships" r:id="R7930cd853c66447f"/>
      <p:bold xmlns:r="http://schemas.openxmlformats.org/officeDocument/2006/relationships" r:id="Rfae42e1667904eee"/>
      <p:italic xmlns:r="http://schemas.openxmlformats.org/officeDocument/2006/relationships" r:id="R28120234d3714856"/>
      <p:boldItalic xmlns:r="http://schemas.openxmlformats.org/officeDocument/2006/relationships" r:id="Ra98cb9ca771d4434"/>
    </p:embeddedFont>
    <p:embeddedFont>
      <p:font typeface="Inter Bold"/>
      <p:regular xmlns:r="http://schemas.openxmlformats.org/officeDocument/2006/relationships" r:id="Rdba506ee84164fd2"/>
    </p:embeddedFont>
    <p:embeddedFont>
      <p:font typeface="Poppins"/>
      <p:regular xmlns:r="http://schemas.openxmlformats.org/officeDocument/2006/relationships" r:id="R1ea4e39a0c8c40a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e2733e02864078" /><Relationship Type="http://schemas.openxmlformats.org/officeDocument/2006/relationships/slideMaster" Target="/ppt/slideMasters/slideMaster1.xml" Id="Reaa94c0eb14f4664" /><Relationship Type="http://schemas.openxmlformats.org/officeDocument/2006/relationships/notesMaster" Target="/ppt/notesMasters/notesMaster1.xml" Id="R6bbacad2ecc44a9a" /><Relationship Type="http://schemas.openxmlformats.org/officeDocument/2006/relationships/presProps" Target="/ppt/presProps.xml" Id="Rbaa515d0ec884585" /><Relationship Type="http://schemas.openxmlformats.org/officeDocument/2006/relationships/viewProps" Target="/ppt/viewProps.xml" Id="Rf3d4f6be29a94f8d" /><Relationship Type="http://schemas.openxmlformats.org/officeDocument/2006/relationships/tableStyles" Target="/ppt/tableStyles.xml" Id="R1e4adc6b57eb4261" /><Relationship Type="http://schemas.openxmlformats.org/officeDocument/2006/relationships/font" Target="/ppt/fonts/font.dat" Id="R7930cd853c66447f" /><Relationship Type="http://schemas.openxmlformats.org/officeDocument/2006/relationships/font" Target="/ppt/fonts/font2.dat" Id="Rfae42e1667904eee" /><Relationship Type="http://schemas.openxmlformats.org/officeDocument/2006/relationships/font" Target="/ppt/fonts/font3.dat" Id="R28120234d3714856" /><Relationship Type="http://schemas.openxmlformats.org/officeDocument/2006/relationships/font" Target="/ppt/fonts/font4.dat" Id="Ra98cb9ca771d4434" /><Relationship Type="http://schemas.openxmlformats.org/officeDocument/2006/relationships/font" Target="/ppt/fonts/font5.dat" Id="Rdba506ee84164fd2" /><Relationship Type="http://schemas.openxmlformats.org/officeDocument/2006/relationships/font" Target="/ppt/fonts/font6.dat" Id="R1ea4e39a0c8c40a5" /><Relationship Type="http://schemas.openxmlformats.org/officeDocument/2006/relationships/slide" Target="/ppt/slides/slide1.xml" Id="R41b67a29ada543a4" /><Relationship Type="http://schemas.openxmlformats.org/officeDocument/2006/relationships/slide" Target="/ppt/slides/slide2.xml" Id="R6f8835c4246c412e" /><Relationship Type="http://schemas.openxmlformats.org/officeDocument/2006/relationships/slide" Target="/ppt/slides/slide3.xml" Id="R9866abb8eb004e6a" /><Relationship Type="http://schemas.openxmlformats.org/officeDocument/2006/relationships/slide" Target="/ppt/slides/slide4.xml" Id="R338abb5856d544f3" /><Relationship Type="http://schemas.openxmlformats.org/officeDocument/2006/relationships/slide" Target="/ppt/slides/slide5.xml" Id="R1ecc255a79434f22" /><Relationship Type="http://schemas.openxmlformats.org/officeDocument/2006/relationships/slide" Target="/ppt/slides/slide6.xml" Id="R8e09d6685cfd47fc" /><Relationship Type="http://schemas.openxmlformats.org/officeDocument/2006/relationships/slide" Target="/ppt/slides/slide7.xml" Id="Rf65bb76e2b3046c0" /><Relationship Type="http://schemas.openxmlformats.org/officeDocument/2006/relationships/slide" Target="/ppt/slides/slide8.xml" Id="R47d3d7347007436e" /><Relationship Type="http://schemas.openxmlformats.org/officeDocument/2006/relationships/slide" Target="/ppt/slides/slide9.xml" Id="R90ecd8aefd014695" /><Relationship Type="http://schemas.openxmlformats.org/officeDocument/2006/relationships/slide" Target="/ppt/slides/slide10.xml" Id="R7aee025976084030" /><Relationship Type="http://schemas.openxmlformats.org/officeDocument/2006/relationships/slide" Target="/ppt/slides/slide11.xml" Id="R255359a5ca054380" /><Relationship Type="http://schemas.openxmlformats.org/officeDocument/2006/relationships/slide" Target="/ppt/slides/slide12.xml" Id="R5d41497321bb46a3" /><Relationship Type="http://schemas.openxmlformats.org/officeDocument/2006/relationships/slide" Target="/ppt/slides/slide13.xml" Id="R35592b12a7b745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b40851b979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5574597b74ce5" /><Relationship Type="http://schemas.openxmlformats.org/officeDocument/2006/relationships/notesMaster" Target="/ppt/notesMasters/notesMaster1.xml" Id="R64c7972911c84d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f32955cd8e4e6a" /><Relationship Type="http://schemas.openxmlformats.org/officeDocument/2006/relationships/notesMaster" Target="/ppt/notesMasters/notesMaster1.xml" Id="Ra16614a7167149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9021d246e4ebc" /><Relationship Type="http://schemas.openxmlformats.org/officeDocument/2006/relationships/notesMaster" Target="/ppt/notesMasters/notesMaster1.xml" Id="Rfd619c478eae43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acebf4c4e44aee" /><Relationship Type="http://schemas.openxmlformats.org/officeDocument/2006/relationships/notesMaster" Target="/ppt/notesMasters/notesMaster1.xml" Id="R61341521b01543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fff861285b425c" /><Relationship Type="http://schemas.openxmlformats.org/officeDocument/2006/relationships/notesMaster" Target="/ppt/notesMasters/notesMaster1.xml" Id="R9e591a7831d745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823e01226c4e02" /><Relationship Type="http://schemas.openxmlformats.org/officeDocument/2006/relationships/notesMaster" Target="/ppt/notesMasters/notesMaster1.xml" Id="R677dd8188ddf47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bd53a59761404b" /><Relationship Type="http://schemas.openxmlformats.org/officeDocument/2006/relationships/notesMaster" Target="/ppt/notesMasters/notesMaster1.xml" Id="R2cad8e305f3f4f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e1beb149d64deb" /><Relationship Type="http://schemas.openxmlformats.org/officeDocument/2006/relationships/notesMaster" Target="/ppt/notesMasters/notesMaster1.xml" Id="R9f36963bc98646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d5e2c08f1e45b0" /><Relationship Type="http://schemas.openxmlformats.org/officeDocument/2006/relationships/notesMaster" Target="/ppt/notesMasters/notesMaster1.xml" Id="Rec189372fe8d4f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8e34df2de4478e" /><Relationship Type="http://schemas.openxmlformats.org/officeDocument/2006/relationships/notesMaster" Target="/ppt/notesMasters/notesMaster1.xml" Id="R94b906aa64f347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ea678ce1d24e68" /><Relationship Type="http://schemas.openxmlformats.org/officeDocument/2006/relationships/notesMaster" Target="/ppt/notesMasters/notesMaster1.xml" Id="R747b82efc80b4c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8b1486a3fd4cfb" /><Relationship Type="http://schemas.openxmlformats.org/officeDocument/2006/relationships/notesMaster" Target="/ppt/notesMasters/notesMaster1.xml" Id="Rb2f0e5de9e5c47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3f0c841f3e4af2" /><Relationship Type="http://schemas.openxmlformats.org/officeDocument/2006/relationships/notesMaster" Target="/ppt/notesMasters/notesMaster1.xml" Id="Re9d8cba2081d45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253e4373742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d902ab23847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ba4f05da347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f187ae15945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bb789ff6849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a4afb4a2d4a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3841de5cf4d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6c4f7a5d74d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df304181c42c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d62308a7040c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9e409f43d48e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A388B9-3F03-4CAA-967A-9980B5023FA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2CF3783-1305-4A93-84EF-663741160E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5FE0FB-9C1D-496B-8F49-C42AB0EC44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2F27EA-82E6-44C8-A730-2DBC679066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FF8266-1591-4920-9A5E-68CDDDA37B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FBD7BE-65DA-46B9-AC94-15B5696E4D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0424B1-7663-4C37-89DC-D8E4031BD2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BFFF70-11BB-4A5B-A036-BB6E41F15F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E3B46C-B9B2-42C7-A99D-7E566847F5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B77FCD-FD4B-41E1-B60C-5CF98B7257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CA2D90-835A-4328-B4F6-8C3B180CE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EC68C6-3C02-4881-A088-2DCED0555C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D021DE-68D4-4EE8-8266-3F4C84E490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43182F-2114-4E3D-9426-80FBEED5D0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6F6EEE-0868-4AA0-9446-57351C2E34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5F2A3-D20C-4F90-8E2D-090E9CD78F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6C30959-D3AD-41AB-9A30-4E6C95A13FC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5D6664-FA26-4783-A6FF-59392EE7B09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F072C9-F2A6-4051-8168-7A07F5797C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6FCA906-4EA5-4C9D-9F9A-636E587C12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EB339ED-6A29-45DE-8063-D95B5DD63F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7D749A-D2A3-41F3-8404-D89434217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73B2BA-90AD-46C2-BE21-2300C2ABF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8332EB6-7E45-471F-AE19-EE460E8CCA8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4FBCF41-A329-4F80-8AA4-00682339864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5C9C5E7-2A41-4899-8AB9-A1F009F3AD1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7B9CF79-C556-45A2-8EE3-82FD550AE1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E4B50C2-5315-42EA-B6F9-85D6673627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60E242A-1B0A-4837-BB7F-28A781B2BF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643DC3-AE79-41A1-95CE-F6ECD3D8B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6B59FFF-0964-492F-A00E-008ED16249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2A1CBCA-77AC-448D-A83F-DC274E6CD5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8B2790D-98B3-48B7-83B0-ACE96B561D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FE6610C-FBD4-427F-8664-F8B11ADEF7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100808C-0F07-4728-9093-D7AE82872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597D0E8-5DD3-49FC-A366-E2A29CCC50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5FAD18-D79A-4EBD-9290-45A3F3EC0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316FA0-131F-405E-BEC7-D83E49FB88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536EB93-F1F9-4870-B5B4-9204636FF1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E0FC06F-3701-43CA-99B1-C59719735B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ACE20C-9270-4B79-9E94-D4B71B7F2F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5AF19A2-1049-4DF4-839D-26A376BC4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AE30A2-D337-4824-B5E4-1451BE8FCB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9325CC5-8958-45DE-8916-CE765D4970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1AA7B3-2CC5-4F7F-9ADE-BF00040112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A3B894B-03A3-47EC-AF22-0BD4F1BD32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C53777-7E01-4B98-B1F4-96A41959FB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1CE2DCA-5919-49F0-82B1-40E7AF9821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DF1545-2C9A-4C17-95BF-71D1B3196E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74B901-C712-4840-A347-6BBAC3A056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B59E7A-9F6D-434B-B9F9-D97459F650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E1F7A5-570D-41FB-9433-8366B06045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11512D-A22B-4144-AD1C-5F69668C1F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2750738-DFC2-48D7-BCB0-810E6D344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B4DD52-85B3-49FB-9448-FDE1E18A4A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FB81F7-76EB-47F2-A151-6B83DB571C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E1F5CB-F877-4417-969F-F3D4B990A7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636D61-C37C-41B8-B6A1-A1B2874070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35280b056541de" /><Relationship Type="http://schemas.openxmlformats.org/officeDocument/2006/relationships/slideLayout" Target="/ppt/slideLayouts/slideLayout1.xml" Id="R12a2389695424a3b" /><Relationship Type="http://schemas.openxmlformats.org/officeDocument/2006/relationships/slideLayout" Target="/ppt/slideLayouts/slideLayout2.xml" Id="R324c94940e1049ff" /><Relationship Type="http://schemas.openxmlformats.org/officeDocument/2006/relationships/slideLayout" Target="/ppt/slideLayouts/slideLayout3.xml" Id="R26b2c51989ea465a" /><Relationship Type="http://schemas.openxmlformats.org/officeDocument/2006/relationships/slideLayout" Target="/ppt/slideLayouts/slideLayout4.xml" Id="R77ab78bedbaa4b91" /><Relationship Type="http://schemas.openxmlformats.org/officeDocument/2006/relationships/slideLayout" Target="/ppt/slideLayouts/slideLayout5.xml" Id="R1e31230ccf02468e" /><Relationship Type="http://schemas.openxmlformats.org/officeDocument/2006/relationships/slideLayout" Target="/ppt/slideLayouts/slideLayout6.xml" Id="Rbb80251b82af4ac1" /><Relationship Type="http://schemas.openxmlformats.org/officeDocument/2006/relationships/slideLayout" Target="/ppt/slideLayouts/slideLayout7.xml" Id="R6cde1e0598b542df" /><Relationship Type="http://schemas.openxmlformats.org/officeDocument/2006/relationships/slideLayout" Target="/ppt/slideLayouts/slideLayout8.xml" Id="Rc61afc7ebc4846ad" /><Relationship Type="http://schemas.openxmlformats.org/officeDocument/2006/relationships/slideLayout" Target="/ppt/slideLayouts/slideLayout9.xml" Id="Rb681cb27a8014f95" /><Relationship Type="http://schemas.openxmlformats.org/officeDocument/2006/relationships/slideLayout" Target="/ppt/slideLayouts/slideLayout10.xml" Id="R38d7914a8ed641f9" /><Relationship Type="http://schemas.openxmlformats.org/officeDocument/2006/relationships/slideLayout" Target="/ppt/slideLayouts/slideLayout11.xml" Id="R6a0023d521524a7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5A87778-F0D6-4FCF-9FE7-B7433582E8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3CD96D-F576-4C6F-89ED-5061456934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64A03F-CCBF-4332-8530-B77E92E62FB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0C36ED-A98F-4427-A4E1-B3BF21B0E61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6D0390-1951-43BE-9C03-C1FD62EFD62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a2389695424a3b"/>
    <p:sldLayoutId xmlns:r="http://schemas.openxmlformats.org/officeDocument/2006/relationships" id="2147483650" r:id="R324c94940e1049ff"/>
    <p:sldLayoutId xmlns:r="http://schemas.openxmlformats.org/officeDocument/2006/relationships" id="2147483651" r:id="R26b2c51989ea465a"/>
    <p:sldLayoutId xmlns:r="http://schemas.openxmlformats.org/officeDocument/2006/relationships" id="2147483652" r:id="R77ab78bedbaa4b91"/>
    <p:sldLayoutId xmlns:r="http://schemas.openxmlformats.org/officeDocument/2006/relationships" id="2147483653" r:id="R1e31230ccf02468e"/>
    <p:sldLayoutId xmlns:r="http://schemas.openxmlformats.org/officeDocument/2006/relationships" id="2147483654" r:id="Rbb80251b82af4ac1"/>
    <p:sldLayoutId xmlns:r="http://schemas.openxmlformats.org/officeDocument/2006/relationships" id="2147483655" r:id="R6cde1e0598b542df"/>
    <p:sldLayoutId xmlns:r="http://schemas.openxmlformats.org/officeDocument/2006/relationships" id="2147483656" r:id="Rc61afc7ebc4846ad"/>
    <p:sldLayoutId xmlns:r="http://schemas.openxmlformats.org/officeDocument/2006/relationships" id="2147483657" r:id="Rb681cb27a8014f95"/>
    <p:sldLayoutId xmlns:r="http://schemas.openxmlformats.org/officeDocument/2006/relationships" id="2147483658" r:id="R38d7914a8ed641f9"/>
    <p:sldLayoutId xmlns:r="http://schemas.openxmlformats.org/officeDocument/2006/relationships" id="2147483659" r:id="R6a0023d521524a79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98d8a0b24145ad" /><Relationship Type="http://schemas.openxmlformats.org/officeDocument/2006/relationships/image" Target="/ppt/media/image.png" Id="R3db6031913e94724" /><Relationship Type="http://schemas.openxmlformats.org/officeDocument/2006/relationships/image" Target="/ppt/media/image.svg" Id="Rdcb3af18e2734e7d" /><Relationship Type="http://schemas.openxmlformats.org/officeDocument/2006/relationships/image" Target="/ppt/media/image2.png" Id="Rfe972863611c4645" /><Relationship Type="http://schemas.openxmlformats.org/officeDocument/2006/relationships/notesSlide" Target="/ppt/notesSlides/notesSlide1.xml" Id="Rebde6a1ee77948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05fa6334ba4e65" /><Relationship Type="http://schemas.openxmlformats.org/officeDocument/2006/relationships/image" Target="/ppt/media/image.png" Id="R2834e69293f648c5" /><Relationship Type="http://schemas.openxmlformats.org/officeDocument/2006/relationships/image" Target="/ppt/media/image.svg" Id="Rbda7cdabbb864caf" /><Relationship Type="http://schemas.openxmlformats.org/officeDocument/2006/relationships/image" Target="/ppt/media/image2.png" Id="Rd00ce19959234095" /><Relationship Type="http://schemas.openxmlformats.org/officeDocument/2006/relationships/notesSlide" Target="/ppt/notesSlides/notesSlide2.xml" Id="R9a9ae3356cd041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1af293680d4ba5" /><Relationship Type="http://schemas.openxmlformats.org/officeDocument/2006/relationships/image" Target="/ppt/media/image.png" Id="R50add2811d4a4e4a" /><Relationship Type="http://schemas.openxmlformats.org/officeDocument/2006/relationships/image" Target="/ppt/media/image.svg" Id="R38f338e88be146a5" /><Relationship Type="http://schemas.openxmlformats.org/officeDocument/2006/relationships/image" Target="/ppt/media/image2.png" Id="Rc83c11d682d846ea" /><Relationship Type="http://schemas.openxmlformats.org/officeDocument/2006/relationships/notesSlide" Target="/ppt/notesSlides/notesSlide3.xml" Id="R478c8450df6840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da79df00f74324" /><Relationship Type="http://schemas.openxmlformats.org/officeDocument/2006/relationships/image" Target="/ppt/media/image.png" Id="Rf5c4d4bd48814d8d" /><Relationship Type="http://schemas.openxmlformats.org/officeDocument/2006/relationships/image" Target="/ppt/media/image.svg" Id="Rbdf4a13278054519" /><Relationship Type="http://schemas.openxmlformats.org/officeDocument/2006/relationships/image" Target="/ppt/media/image2.png" Id="R57d9c06b365447d0" /><Relationship Type="http://schemas.openxmlformats.org/officeDocument/2006/relationships/image" Target="/ppt/media/image3.png" Id="R68198a390cc94ec6" /><Relationship Type="http://schemas.openxmlformats.org/officeDocument/2006/relationships/notesSlide" Target="/ppt/notesSlides/notesSlide4.xml" Id="Rfcb379174d014f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f71a7784de4615" /><Relationship Type="http://schemas.openxmlformats.org/officeDocument/2006/relationships/image" Target="/ppt/media/image.png" Id="Rcf200ffce3364549" /><Relationship Type="http://schemas.openxmlformats.org/officeDocument/2006/relationships/image" Target="/ppt/media/image.svg" Id="R6b97d8d85f5a4c89" /><Relationship Type="http://schemas.openxmlformats.org/officeDocument/2006/relationships/image" Target="/ppt/media/image2.png" Id="R19a51e4cc5fa4a88" /><Relationship Type="http://schemas.openxmlformats.org/officeDocument/2006/relationships/image" Target="/ppt/media/image4.png" Id="R96b8fe1ef75f4eca" /><Relationship Type="http://schemas.openxmlformats.org/officeDocument/2006/relationships/notesSlide" Target="/ppt/notesSlides/notesSlide5.xml" Id="R5764c6a6f07649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86193c889c4730" /><Relationship Type="http://schemas.openxmlformats.org/officeDocument/2006/relationships/image" Target="/ppt/media/image.png" Id="Rf1d525b9af2f408b" /><Relationship Type="http://schemas.openxmlformats.org/officeDocument/2006/relationships/image" Target="/ppt/media/image.svg" Id="R01b16734cefa435e" /><Relationship Type="http://schemas.openxmlformats.org/officeDocument/2006/relationships/image" Target="/ppt/media/image2.png" Id="Ra1f96ea9aaea4ec8" /><Relationship Type="http://schemas.openxmlformats.org/officeDocument/2006/relationships/image" Target="/ppt/media/image5.png" Id="Reed2dd66e42a4711" /><Relationship Type="http://schemas.openxmlformats.org/officeDocument/2006/relationships/notesSlide" Target="/ppt/notesSlides/notesSlide6.xml" Id="R1f5215b064a6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3b8ada28fc4733" /><Relationship Type="http://schemas.openxmlformats.org/officeDocument/2006/relationships/image" Target="/ppt/media/image.png" Id="Ra16ec9748cf54101" /><Relationship Type="http://schemas.openxmlformats.org/officeDocument/2006/relationships/image" Target="/ppt/media/image.svg" Id="R971169d044eb46c2" /><Relationship Type="http://schemas.openxmlformats.org/officeDocument/2006/relationships/image" Target="/ppt/media/image2.png" Id="Ra5bcf5c8b5474935" /><Relationship Type="http://schemas.openxmlformats.org/officeDocument/2006/relationships/image" Target="/ppt/media/image6.png" Id="Rac503fbd09c04b42" /><Relationship Type="http://schemas.openxmlformats.org/officeDocument/2006/relationships/notesSlide" Target="/ppt/notesSlides/notesSlide7.xml" Id="R16b951aecbf244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c21c1210d346bf" /><Relationship Type="http://schemas.openxmlformats.org/officeDocument/2006/relationships/image" Target="/ppt/media/image.png" Id="R24466161b1f84bac" /><Relationship Type="http://schemas.openxmlformats.org/officeDocument/2006/relationships/image" Target="/ppt/media/image.svg" Id="R9e7f81c2563e4332" /><Relationship Type="http://schemas.openxmlformats.org/officeDocument/2006/relationships/image" Target="/ppt/media/image2.png" Id="R3cabb67ea873492a" /><Relationship Type="http://schemas.openxmlformats.org/officeDocument/2006/relationships/image" Target="/ppt/media/image7.png" Id="R52655a8c24114914" /><Relationship Type="http://schemas.openxmlformats.org/officeDocument/2006/relationships/notesSlide" Target="/ppt/notesSlides/notesSlide8.xml" Id="Rdb34112e59e542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cf3879f4ac40cf" /><Relationship Type="http://schemas.openxmlformats.org/officeDocument/2006/relationships/image" Target="/ppt/media/image.png" Id="R9bab1ea4ed7646cc" /><Relationship Type="http://schemas.openxmlformats.org/officeDocument/2006/relationships/image" Target="/ppt/media/image.svg" Id="R77b9a025ff264af7" /><Relationship Type="http://schemas.openxmlformats.org/officeDocument/2006/relationships/image" Target="/ppt/media/image2.png" Id="R1ae071db68c547ff" /><Relationship Type="http://schemas.openxmlformats.org/officeDocument/2006/relationships/image" Target="/ppt/media/image8.png" Id="R8a890033a2174b73" /><Relationship Type="http://schemas.openxmlformats.org/officeDocument/2006/relationships/notesSlide" Target="/ppt/notesSlides/notesSlide9.xml" Id="R52ff4fc2cda349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42fd15f6394533" /><Relationship Type="http://schemas.openxmlformats.org/officeDocument/2006/relationships/image" Target="/ppt/media/image.png" Id="R47b8067b34594bc8" /><Relationship Type="http://schemas.openxmlformats.org/officeDocument/2006/relationships/image" Target="/ppt/media/image.svg" Id="Rbe3490cf01d64362" /><Relationship Type="http://schemas.openxmlformats.org/officeDocument/2006/relationships/image" Target="/ppt/media/image2.png" Id="R6d425c7ced57494b" /><Relationship Type="http://schemas.openxmlformats.org/officeDocument/2006/relationships/image" Target="/ppt/media/image9.png" Id="Rdfb6ae0833c74e86" /><Relationship Type="http://schemas.openxmlformats.org/officeDocument/2006/relationships/notesSlide" Target="/ppt/notesSlides/notesSlide10.xml" Id="R475ebd57dfc74c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6e94bd885642e0" /><Relationship Type="http://schemas.openxmlformats.org/officeDocument/2006/relationships/image" Target="/ppt/media/image.png" Id="R22422916a2ca406a" /><Relationship Type="http://schemas.openxmlformats.org/officeDocument/2006/relationships/image" Target="/ppt/media/image.svg" Id="R554550de3bdf490c" /><Relationship Type="http://schemas.openxmlformats.org/officeDocument/2006/relationships/image" Target="/ppt/media/image2.png" Id="R962e38202b6e48b7" /><Relationship Type="http://schemas.openxmlformats.org/officeDocument/2006/relationships/notesSlide" Target="/ppt/notesSlides/notesSlide11.xml" Id="Rad52c9981b394f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9c00e745284c27" /><Relationship Type="http://schemas.openxmlformats.org/officeDocument/2006/relationships/image" Target="/ppt/media/image.png" Id="Rf122898be6ba402a" /><Relationship Type="http://schemas.openxmlformats.org/officeDocument/2006/relationships/image" Target="/ppt/media/image.svg" Id="R1a320df6d7f2474e" /><Relationship Type="http://schemas.openxmlformats.org/officeDocument/2006/relationships/image" Target="/ppt/media/image2.png" Id="Rf512fee407e640e1" /><Relationship Type="http://schemas.openxmlformats.org/officeDocument/2006/relationships/image" Target="/ppt/media/image10.png" Id="Ra23c4f0632c340e6" /><Relationship Type="http://schemas.openxmlformats.org/officeDocument/2006/relationships/notesSlide" Target="/ppt/notesSlides/notesSlide12.xml" Id="Rdd59fcd29a0a44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ead3c19e804ef7" /><Relationship Type="http://schemas.openxmlformats.org/officeDocument/2006/relationships/image" Target="/ppt/media/image.png" Id="Rab4125cd6ec84149" /><Relationship Type="http://schemas.openxmlformats.org/officeDocument/2006/relationships/image" Target="/ppt/media/image.svg" Id="R7db3d78f34ae4d04" /><Relationship Type="http://schemas.openxmlformats.org/officeDocument/2006/relationships/image" Target="/ppt/media/image2.png" Id="R442e060e01a9418d" /><Relationship Type="http://schemas.openxmlformats.org/officeDocument/2006/relationships/notesSlide" Target="/ppt/notesSlides/notesSlide13.xml" Id="R692b4ed1a45040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34EABF-DC51-4D46-A80B-82E1C80D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4235" y="2048122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db6031913e94724">
              <a:extLst>
                <a:ext uri="{96DAC541-7B7A-43D3-8B79-37D633B846F1}">
                  <asvg:svgBlip xmlns:asvg="http://schemas.microsoft.com/office/drawing/2016/SVG/main" r:embed="Rdcb3af18e2734e7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1C63FEF-E8A3-47BA-A003-D6D42841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923" y="6608988"/>
            <a:ext cx="8425377" cy="618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759"/>
              </a:lnSpc>
              <a:spcBef>
                <a:spcPct val="0"/>
              </a:spcBef>
              <a:buNone/>
            </a:pPr>
            <a:r>
              <a:rPr sz="33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Presented By: 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D6AB19F-CC96-4AAA-88C4-A9708361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5518" y="7319446"/>
            <a:ext cx="4793197" cy="2193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99"/>
              </a:lnSpc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Bergonio, Mark A.</a:t>
            </a:r>
          </a:p>
          <a:p xmlns:a="http://schemas.openxmlformats.org/drawingml/2006/main">
            <a:pPr algn="ctr">
              <a:lnSpc>
                <a:spcPts val="3499"/>
              </a:lnSpc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Guelas, John Paul J.</a:t>
            </a:r>
          </a:p>
          <a:p xmlns:a="http://schemas.openxmlformats.org/drawingml/2006/main">
            <a:pPr algn="ctr">
              <a:lnSpc>
                <a:spcPts val="3499"/>
              </a:lnSpc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Revilla, Trisha Mae A.</a:t>
            </a:r>
          </a:p>
          <a:p xmlns:a="http://schemas.openxmlformats.org/drawingml/2006/main">
            <a:pPr algn="ctr">
              <a:lnSpc>
                <a:spcPts val="3499"/>
              </a:lnSpc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Secondez, Axcell Jun B.</a:t>
            </a:r>
          </a:p>
          <a:p xmlns:a="http://schemas.openxmlformats.org/drawingml/2006/main">
            <a:pPr algn="ctr">
              <a:lnSpc>
                <a:spcPts val="3499"/>
              </a:lnSpc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Simacas, Wilson V.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D153A04-0AF1-448B-B6CA-5953E11C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923" y="2442025"/>
            <a:ext cx="8296387" cy="3068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10"/>
              </a:lnSpc>
              <a:buNone/>
            </a:pPr>
            <a:r>
              <a:rPr sz="4334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NOVAQ: AN INTEGRATED QUEUEING ANALYTICS AND SIMULATION SYSTEM FOR SERVICE OPERATIONS OPTIMIZATION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3DD1DCA-1656-4E69-9431-969EAD0E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4463" y="1480689"/>
            <a:ext cx="10988432" cy="7325621"/>
          </a:xfrm>
          <a:custGeom xmlns:a="http://schemas.openxmlformats.org/drawingml/2006/main">
            <a:rect l="l" t="t" r="r" b="b"/>
            <a:pathLst>
              <a:path w="10988432" h="7325621">
                <a:moveTo>
                  <a:pt x="0" y="0"/>
                </a:moveTo>
                <a:lnTo>
                  <a:pt x="10988432" y="0"/>
                </a:lnTo>
                <a:lnTo>
                  <a:pt x="10988432" y="7325622"/>
                </a:lnTo>
                <a:lnTo>
                  <a:pt x="0" y="732562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972863611c4645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051134F-0FB3-4519-B108-58F4D5D9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883" y="954356"/>
            <a:ext cx="2835513" cy="3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</p:spTree>
    <p:extLst>
      <p:ext uri="{BB962C8B-B14F-4D97-AF65-F5344CB8AC3E}">
        <p14:creationId xmlns:p14="http://schemas.microsoft.com/office/powerpoint/2010/main" val="11012058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7F8C7B1-113F-4E2D-A886-88A1C040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119" y="1410082"/>
            <a:ext cx="13293762" cy="776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Review of Related Literature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CD44189-B96A-432B-960A-33F98FB7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34e69293f648c5">
              <a:extLst>
                <a:ext uri="{96DAC541-7B7A-43D3-8B79-37D633B846F1}">
                  <asvg:svgBlip xmlns:asvg="http://schemas.microsoft.com/office/drawing/2016/SVG/main" r:embed="Rbda7cdabbb864ca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BE94AA5-496D-4BD3-8C9B-2C9346D3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34e69293f648c5">
              <a:extLst>
                <a:ext uri="{96DAC541-7B7A-43D3-8B79-37D633B846F1}">
                  <asvg:svgBlip xmlns:asvg="http://schemas.microsoft.com/office/drawing/2016/SVG/main" r:embed="Rbda7cdabbb864ca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E930CDC-3ECB-447F-9F90-CBCDBF1D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71225"/>
            <a:ext cx="16230600" cy="76765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Erlang, A. K. (1917) — Formulated loss and waiting-time formulas for automatic telephone exchanges, establishing the mathematical foundation for Erlang-C calculations.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Kendall, D. G. (1953) — Introduced the A/B/c notation system for classifying queueing models by arrival process, service process, and server count.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Little, J. D. C. (1961) — Proved the fundamental queueing formula L = λW, connecting mean queue length to arrival rate and system time.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Halfin, S. &amp; Whitt, W. (1981) — Established heavy-traffic limiting behavior of many-server queues, forming the theoretical basis for utilization-based staffing rules.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Garnett, O., Mandelbaum, A., &amp; Reiman, M. (2002) — Extended Erlang-C to account for customer abandonment, establishing the Erlang-A framework.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Cosmetatos, G. P. (1976) — Derived approximate mean waiting time formulas for multi-server queues with generally distributed service times (M/G/c).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Metropolis, N. &amp; Ulam, S. (1949) — Introduced the Monte Carlo method using repeated random sampling to evaluate stochastic system behavior under uncertainty.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Wilson, E. B. (1927) — Derived the Wilson score confidence interval for binomial proportions, maintaining precision for small samples or extreme proportions.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Newcombe, R. G. (1998) — Demonstrated that the Wilson score interval consistently outperforms normal-approximation methods for proportion confidence intervals.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Sandhu, R., Coyne, E., Feinstein, H., &amp; Youman, C. (1996) — Formalized Role-Based Access Control (RBAC) to restrict system permissions based on organizational roles. </a:t>
            </a:r>
          </a:p>
          <a:p xmlns:a="http://schemas.openxmlformats.org/drawingml/2006/main">
            <a:pPr marL="410213" lvl="1" indent="-205106" algn="just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Miña, B. L., Ragodon-Vargas, K. A., Capillan, A., Malecdan, J. B., Acosta, S. M., &amp; Faller, E. (2024) — Evaluated outpatient waiting times in a public hospital in Northern Philippines, confirming peak-hour timing as a key driver of queueing delay. </a:t>
            </a:r>
          </a:p>
          <a:p xmlns:a="http://schemas.openxmlformats.org/drawingml/2006/main">
            <a:pPr algn="just">
              <a:lnSpc>
                <a:spcPts val="2660"/>
              </a:lnSpc>
              <a:spcBef>
                <a:spcPct val="0"/>
              </a:spcBef>
              <a:buNone/>
            </a:pPr>
            <a:endParaRPr sz="190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93062CC-B7B1-4BC1-934D-A5F5299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ABAD8B3-CEB7-44BE-9E6B-E0B5F540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0ce19959234095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728850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68D62EB-B208-48B0-832E-9C26BCC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119" y="1410082"/>
            <a:ext cx="13293762" cy="776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Review of Related Literature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19CFEEE-EA74-43B8-B292-A16DAD8A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add2811d4a4e4a">
              <a:extLst>
                <a:ext uri="{96DAC541-7B7A-43D3-8B79-37D633B846F1}">
                  <asvg:svgBlip xmlns:asvg="http://schemas.microsoft.com/office/drawing/2016/SVG/main" r:embed="R38f338e88be146a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EC19B5B-8143-406E-9F33-93409B40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add2811d4a4e4a">
              <a:extLst>
                <a:ext uri="{96DAC541-7B7A-43D3-8B79-37D633B846F1}">
                  <asvg:svgBlip xmlns:asvg="http://schemas.microsoft.com/office/drawing/2016/SVG/main" r:embed="R38f338e88be146a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C5BF329-8E2F-472D-A7B2-12806B75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52175"/>
            <a:ext cx="16230600" cy="5246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IEOM Society (2021) Bank Case Study — Applied queueing theory to a bank in Laguna, Philippines, finding waiting time differences for priority customers. </a:t>
            </a:r>
          </a:p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IEOM Society (2023) OPD Study — Combined SERVQUAL, queueing theory, and ProModel simulation in a Philippine public hospital OPD. </a:t>
            </a:r>
          </a:p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ACM (2023) LRT-1 Study — Analyzed ticketing booth queues at LRT-1 Central Station in Manila. </a:t>
            </a:r>
          </a:p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Doctora et al. (2021) — Cited within a Davao supermarket study regarding Filipino consumer preferences for in-store checkout. </a:t>
            </a:r>
          </a:p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ACM MSIE (2022) Supermarket Study — Modeled supermarket cashier systems using the M/M/c model. </a:t>
            </a:r>
          </a:p>
          <a:p xmlns:a="http://schemas.openxmlformats.org/drawingml/2006/main">
            <a:pPr algn="just">
              <a:lnSpc>
                <a:spcPts val="3779"/>
              </a:lnSpc>
              <a:spcBef>
                <a:spcPct val="0"/>
              </a:spcBef>
              <a:buNone/>
            </a:pPr>
            <a:endParaRPr sz="2699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F6464FA-E693-4573-9690-D0C81FA7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B5E9A4A-36DF-4299-A60A-DCA71189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3c11d682d846ea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6610213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AADDFFC-A1DD-447F-B813-DEF59E9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119" y="1506206"/>
            <a:ext cx="13293762" cy="1538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Service Operations &amp; The Staffing Dilemma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B4F67D0-A0E7-44EF-911E-7A7AF293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c4d4bd48814d8d">
              <a:extLst>
                <a:ext uri="{96DAC541-7B7A-43D3-8B79-37D633B846F1}">
                  <asvg:svgBlip xmlns:asvg="http://schemas.microsoft.com/office/drawing/2016/SVG/main" r:embed="Rbdf4a132780545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430D5C4-4ADE-4243-9679-CA2F72AE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c4d4bd48814d8d">
              <a:extLst>
                <a:ext uri="{96DAC541-7B7A-43D3-8B79-37D633B846F1}">
                  <asvg:svgBlip xmlns:asvg="http://schemas.microsoft.com/office/drawing/2016/SVG/main" r:embed="Rbdf4a132780545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618C5EE-4C0A-49C1-A0EF-FFBCC529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E6594FB-5D7F-4F5E-AD80-2B0E7574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d9c06b365447d0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EB38E74-0E1D-41B7-8A69-6DDC30C5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222" y="3072055"/>
            <a:ext cx="13252967" cy="6353141"/>
          </a:xfrm>
          <a:custGeom xmlns:a="http://schemas.openxmlformats.org/drawingml/2006/main">
            <a:rect l="l" t="t" r="r" b="b"/>
            <a:pathLst>
              <a:path w="13252967" h="6353141">
                <a:moveTo>
                  <a:pt x="0" y="0"/>
                </a:moveTo>
                <a:lnTo>
                  <a:pt x="13252967" y="0"/>
                </a:lnTo>
                <a:lnTo>
                  <a:pt x="13252967" y="6353141"/>
                </a:lnTo>
                <a:lnTo>
                  <a:pt x="0" y="635314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198a390cc94ec6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18FE6EB-7878-45D1-B682-801A63DD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5" y="3005380"/>
            <a:ext cx="4284720" cy="63478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89819" lvl="1" indent="-244909" algn="just">
              <a:lnSpc>
                <a:spcPts val="3176"/>
              </a:lnSpc>
              <a:spcBef>
                <a:spcPct val="0"/>
              </a:spcBef>
              <a:buFont typeface="Arial"/>
              <a:buChar char="•"/>
            </a:pPr>
            <a:r>
              <a:rPr sz="2268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Real-time customer arrivals cannot be buffered or scheduled in advance. </a:t>
            </a:r>
          </a:p>
          <a:p xmlns:a="http://schemas.openxmlformats.org/drawingml/2006/main">
            <a:pPr marL="489819" lvl="1" indent="-244909" algn="just">
              <a:lnSpc>
                <a:spcPts val="3176"/>
              </a:lnSpc>
              <a:spcBef>
                <a:spcPct val="0"/>
              </a:spcBef>
              <a:buFont typeface="Arial"/>
              <a:buChar char="•"/>
            </a:pPr>
            <a:r>
              <a:rPr sz="2268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Capacity decisions are immediate; unserviced arrival demand creates waiting lines. </a:t>
            </a:r>
          </a:p>
          <a:p xmlns:a="http://schemas.openxmlformats.org/drawingml/2006/main">
            <a:pPr marL="489819" lvl="1" indent="-244909" algn="just">
              <a:lnSpc>
                <a:spcPts val="3176"/>
              </a:lnSpc>
              <a:spcBef>
                <a:spcPct val="0"/>
              </a:spcBef>
              <a:buFont typeface="Arial"/>
              <a:buChar char="•"/>
            </a:pPr>
            <a:r>
              <a:rPr sz="2268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Local retail staffing relies heavily on managerial habit or fixed rules. </a:t>
            </a:r>
          </a:p>
          <a:p xmlns:a="http://schemas.openxmlformats.org/drawingml/2006/main">
            <a:pPr marL="489819" lvl="1" indent="-244909" algn="just">
              <a:lnSpc>
                <a:spcPts val="3176"/>
              </a:lnSpc>
              <a:spcBef>
                <a:spcPct val="0"/>
              </a:spcBef>
              <a:buFont typeface="Arial"/>
              <a:buChar char="•"/>
            </a:pPr>
            <a:r>
              <a:rPr sz="2268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Question shifts from total headcount to matching capacity with time-varying demand. </a:t>
            </a:r>
          </a:p>
          <a:p xmlns:a="http://schemas.openxmlformats.org/drawingml/2006/main">
            <a:pPr algn="just">
              <a:lnSpc>
                <a:spcPts val="3176"/>
              </a:lnSpc>
              <a:spcBef>
                <a:spcPct val="0"/>
              </a:spcBef>
              <a:buNone/>
            </a:pPr>
            <a:endParaRPr sz="2268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050015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2BDB607-2A26-4C29-A2CA-EC5B55FE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741" y="1637850"/>
            <a:ext cx="14204390" cy="776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Empirical Bottleneck at Novamart Grocery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E54C5BB-FC9D-473D-8AC7-3519DB6F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200ffce3364549">
              <a:extLst>
                <a:ext uri="{96DAC541-7B7A-43D3-8B79-37D633B846F1}">
                  <asvg:svgBlip xmlns:asvg="http://schemas.microsoft.com/office/drawing/2016/SVG/main" r:embed="R6b97d8d85f5a4c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EF9853E-71C9-45EA-8578-C83C1778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200ffce3364549">
              <a:extLst>
                <a:ext uri="{96DAC541-7B7A-43D3-8B79-37D633B846F1}">
                  <asvg:svgBlip xmlns:asvg="http://schemas.microsoft.com/office/drawing/2016/SVG/main" r:embed="R6b97d8d85f5a4c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8F31E61-AEA7-49D9-90FB-B3824B27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ED284D8-27D6-477F-9B74-02033CF1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51e4cc5fa4a88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3C36FD2E-178F-4087-8DE6-99C0A27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78" y="4259789"/>
            <a:ext cx="17882711" cy="4012433"/>
          </a:xfrm>
          <a:custGeom xmlns:a="http://schemas.openxmlformats.org/drawingml/2006/main">
            <a:rect l="l" t="t" r="r" b="b"/>
            <a:pathLst>
              <a:path w="17882711" h="4012433">
                <a:moveTo>
                  <a:pt x="0" y="0"/>
                </a:moveTo>
                <a:lnTo>
                  <a:pt x="17882711" y="0"/>
                </a:lnTo>
                <a:lnTo>
                  <a:pt x="17882711" y="4012433"/>
                </a:lnTo>
                <a:lnTo>
                  <a:pt x="0" y="40124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6b8fe1ef75f4eca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8568D-7E21-4ABC-A65D-B910FE26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21" y="2427814"/>
            <a:ext cx="17795057" cy="175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39749" lvl="1" indent="-269875" algn="just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6 intervals operate at ρ &lt; 0.35 with c = 5 cashiers.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63B6C-55BF-4575-BFF7-FAA3D644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658100"/>
            <a:ext cx="1790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solidFill>
              <a:srgbClr val="11151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C5185-B232-4074-AD15-87545C65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96200"/>
            <a:ext cx="1724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D9E0EA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D9E0EA"/>
                </a:solidFill>
                <a:latin typeface="Poppins"/>
                <a:ea typeface="Poppins"/>
                <a:cs typeface="Poppins"/>
              </a:rPr>
              <a:t>NOVAQ reallocates 14 cashier-hours removed from overstaffed periods and adds 2 during the peak, for a net reduction of 12 cashier-hours.</a:t>
            </a:r>
          </a:p>
        </p:txBody>
      </p:sp>
    </p:spTree>
    <p:extLst>
      <p:ext uri="{BB962C8B-B14F-4D97-AF65-F5344CB8AC3E}">
        <p14:creationId xmlns:p14="http://schemas.microsoft.com/office/powerpoint/2010/main" val="1033944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98D4BA0-B492-4C03-BF09-D4DCF4A8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119" y="1897162"/>
            <a:ext cx="14204390" cy="776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Operational Root Cause &amp; Research Gap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625B791-DE42-4CEF-82D8-4EA49FBD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d525b9af2f408b">
              <a:extLst>
                <a:ext uri="{96DAC541-7B7A-43D3-8B79-37D633B846F1}">
                  <asvg:svgBlip xmlns:asvg="http://schemas.microsoft.com/office/drawing/2016/SVG/main" r:embed="R01b16734cefa435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83F34C9-EBDA-46E5-84BE-D5145329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d525b9af2f408b">
              <a:extLst>
                <a:ext uri="{96DAC541-7B7A-43D3-8B79-37D633B846F1}">
                  <asvg:svgBlip xmlns:asvg="http://schemas.microsoft.com/office/drawing/2016/SVG/main" r:embed="R01b16734cefa435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359B4F7-B4E5-4739-B461-68EDCB7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9D061F3-8C9E-4920-B2F3-4A3FA08B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1f96ea9aaea4ec8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26ED421-034B-43AA-B97C-81CE37B1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78" y="4298621"/>
            <a:ext cx="17882711" cy="3028884"/>
          </a:xfrm>
          <a:custGeom xmlns:a="http://schemas.openxmlformats.org/drawingml/2006/main">
            <a:rect l="l" t="t" r="r" b="b"/>
            <a:pathLst>
              <a:path w="17882711" h="3028884">
                <a:moveTo>
                  <a:pt x="0" y="0"/>
                </a:moveTo>
                <a:lnTo>
                  <a:pt x="17882711" y="0"/>
                </a:lnTo>
                <a:lnTo>
                  <a:pt x="17882711" y="3028884"/>
                </a:lnTo>
                <a:lnTo>
                  <a:pt x="0" y="30288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2dd66e42a4711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D10830C-4A90-407D-8D32-A4272208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60" y="2607017"/>
            <a:ext cx="18655576" cy="175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39749" lvl="1" indent="-269875" algn="just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Local Applied Gap: The studies reviewed are generally single-site, single-model analyses rather than reusable decision-support tools.</a:t>
            </a:r>
          </a:p>
        </p:txBody>
      </p:sp>
    </p:spTree>
    <p:extLst>
      <p:ext uri="{BB962C8B-B14F-4D97-AF65-F5344CB8AC3E}">
        <p14:creationId xmlns:p14="http://schemas.microsoft.com/office/powerpoint/2010/main" val="16050047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3DA70E2-3E8C-4322-9F8E-169879B2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805" y="1457553"/>
            <a:ext cx="14204390" cy="1538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NOVAQ: Reusable Decision-Support Infrastructure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E0B3322-1FA3-4493-8739-E3C379DE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16ec9748cf54101">
              <a:extLst>
                <a:ext uri="{96DAC541-7B7A-43D3-8B79-37D633B846F1}">
                  <asvg:svgBlip xmlns:asvg="http://schemas.microsoft.com/office/drawing/2016/SVG/main" r:embed="R971169d044eb46c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2D7EDD4-7C3F-4046-B9E2-AD7D0387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16ec9748cf54101">
              <a:extLst>
                <a:ext uri="{96DAC541-7B7A-43D3-8B79-37D633B846F1}">
                  <asvg:svgBlip xmlns:asvg="http://schemas.microsoft.com/office/drawing/2016/SVG/main" r:embed="R971169d044eb46c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3BD4C1E-291B-4F92-A5BF-E407CD4F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F541975-DC3D-44C3-A69E-BEA9039B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bcf5c8b5474935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6935809-9FFC-4DAF-8B1E-9B1C16F9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017" y="3680535"/>
            <a:ext cx="14651036" cy="5130546"/>
          </a:xfrm>
          <a:custGeom xmlns:a="http://schemas.openxmlformats.org/drawingml/2006/main">
            <a:rect l="l" t="t" r="r" b="b"/>
            <a:pathLst>
              <a:path w="14651036" h="5130546">
                <a:moveTo>
                  <a:pt x="0" y="0"/>
                </a:moveTo>
                <a:lnTo>
                  <a:pt x="14651036" y="0"/>
                </a:lnTo>
                <a:lnTo>
                  <a:pt x="14651036" y="5130546"/>
                </a:lnTo>
                <a:lnTo>
                  <a:pt x="0" y="513054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503fbd09c04b42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17DE5A5-88D7-484A-8D22-7447F1C9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12212"/>
            <a:ext cx="18208841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Integrated multi-model analytics (M/M/1, M/M/c, M/G/c, M/M/K, M/G/K, Erlang-A). </a:t>
            </a:r>
          </a:p>
          <a:p xmlns:a="http://schemas.openxmlformats.org/drawingml/2006/main">
            <a:pPr algn="just">
              <a:lnSpc>
                <a:spcPts val="3779"/>
              </a:lnSpc>
              <a:spcBef>
                <a:spcPct val="0"/>
              </a:spcBef>
              <a:buNone/>
            </a:pPr>
            <a:endParaRPr sz="2699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175665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3A3EF5D-B641-4A77-B9C1-882981B0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805" y="1457553"/>
            <a:ext cx="14204390" cy="1538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NOVAQ: Reusable Decision-Support Infrastructure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65A01B8-D5E6-43A6-B187-334C1C50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466161b1f84bac">
              <a:extLst>
                <a:ext uri="{96DAC541-7B7A-43D3-8B79-37D633B846F1}">
                  <asvg:svgBlip xmlns:asvg="http://schemas.microsoft.com/office/drawing/2016/SVG/main" r:embed="R9e7f81c2563e43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A5901E9-51F6-43FD-AD54-BB664459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466161b1f84bac">
              <a:extLst>
                <a:ext uri="{96DAC541-7B7A-43D3-8B79-37D633B846F1}">
                  <asvg:svgBlip xmlns:asvg="http://schemas.microsoft.com/office/drawing/2016/SVG/main" r:embed="R9e7f81c2563e43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0CEF54B-B940-4A4E-BC81-FEF8F315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BF58E7D-76C2-422A-8C7A-AC7F264E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abb67ea873492a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61559D3-90EC-4B5B-8D82-8BDA34FB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637" y="4313371"/>
            <a:ext cx="12946727" cy="3197729"/>
          </a:xfrm>
          <a:custGeom xmlns:a="http://schemas.openxmlformats.org/drawingml/2006/main">
            <a:rect l="l" t="t" r="r" b="b"/>
            <a:pathLst>
              <a:path w="12946727" h="3197729">
                <a:moveTo>
                  <a:pt x="0" y="0"/>
                </a:moveTo>
                <a:lnTo>
                  <a:pt x="12946726" y="0"/>
                </a:lnTo>
                <a:lnTo>
                  <a:pt x="12946726" y="3197729"/>
                </a:lnTo>
                <a:lnTo>
                  <a:pt x="0" y="319772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655a8c24114914"/>
            <a:stretch>
              <a:fillRect l="0" t="0" r="0" b="-897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94EF688-F3A9-4EC9-B354-D65984E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12212"/>
            <a:ext cx="18208841" cy="1436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Cost-aware optimization targeting ρ ≤ 0.70 across labor, waiting, and abandonment costs. </a:t>
            </a:r>
          </a:p>
          <a:p xmlns:a="http://schemas.openxmlformats.org/drawingml/2006/main">
            <a:pPr algn="just">
              <a:lnSpc>
                <a:spcPts val="3779"/>
              </a:lnSpc>
              <a:spcBef>
                <a:spcPct val="0"/>
              </a:spcBef>
              <a:buNone/>
            </a:pPr>
            <a:endParaRPr sz="2699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 xmlns:a="http://schemas.openxmlformats.org/drawingml/2006/main">
            <a:pPr algn="just">
              <a:lnSpc>
                <a:spcPts val="3779"/>
              </a:lnSpc>
              <a:spcBef>
                <a:spcPct val="0"/>
              </a:spcBef>
              <a:buNone/>
            </a:pPr>
            <a:endParaRPr sz="2699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31221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41D5537-D86A-4E44-9D38-805A65FE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805" y="1457553"/>
            <a:ext cx="14204390" cy="1538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NOVAQ: Reusable Decision-Support Infrastructure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CB762AF-E620-443A-B0A0-BED3C13F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ab1ea4ed7646cc">
              <a:extLst>
                <a:ext uri="{96DAC541-7B7A-43D3-8B79-37D633B846F1}">
                  <asvg:svgBlip xmlns:asvg="http://schemas.microsoft.com/office/drawing/2016/SVG/main" r:embed="R77b9a025ff264af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3E3BF8A-FBA4-4708-901D-13C129BB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ab1ea4ed7646cc">
              <a:extLst>
                <a:ext uri="{96DAC541-7B7A-43D3-8B79-37D633B846F1}">
                  <asvg:svgBlip xmlns:asvg="http://schemas.microsoft.com/office/drawing/2016/SVG/main" r:embed="R77b9a025ff264af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617A3A5-758C-4426-BCAE-6E24DA1F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1ADBBAF-A20F-4CB4-964F-2113F927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ae071db68c547ff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5D5FCCE-7B47-4D39-8D4C-D0ED2A1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28950"/>
            <a:ext cx="1762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3779"/>
              </a:lnSpc>
              <a:spcBef>
                <a:spcPct val="0"/>
              </a:spcBef>
              <a:buNone/>
            </a:pPr>
            <a:r>
              <a:t>Complementary validation: DES checks queue behavior. Monte Carlo counts failure when ρ &gt; 0.75 and applies a 5% failure-rate criterion with 95% Wilson intervals.</a:t>
            </a:r>
            <a:endParaRPr/>
          </a:p>
        </p:txBody>
      </p:sp>
      <p:pic>
        <p:nvPicPr>
          <p:cNvPr id="1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90033a2174b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3707" y="3865811"/>
            <a:ext cx="16060586" cy="4404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40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DE6AE6F-82B7-4578-97D4-B2FC07E3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805" y="1457553"/>
            <a:ext cx="14204390" cy="1538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NOVAQ: Reusable Decision-Support Infrastructure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84186D7-6EA2-49F1-B955-120B890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7b8067b34594bc8">
              <a:extLst>
                <a:ext uri="{96DAC541-7B7A-43D3-8B79-37D633B846F1}">
                  <asvg:svgBlip xmlns:asvg="http://schemas.microsoft.com/office/drawing/2016/SVG/main" r:embed="Rbe3490cf01d643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8896277-0209-4947-B1FE-22EADFC7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7b8067b34594bc8">
              <a:extLst>
                <a:ext uri="{96DAC541-7B7A-43D3-8B79-37D633B846F1}">
                  <asvg:svgBlip xmlns:asvg="http://schemas.microsoft.com/office/drawing/2016/SVG/main" r:embed="Rbe3490cf01d643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0AC00BD-12CA-4939-B449-727760C2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14C7512-921C-42A0-8443-8BC5B71C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d425c7ced57494b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B338355-30F5-4889-97C2-E80D96EE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8289"/>
            <a:ext cx="18208841" cy="1436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3779"/>
              </a:lnSpc>
              <a:spcBef>
                <a:spcPct val="0"/>
              </a:spcBef>
              <a:buNone/>
            </a:pPr>
            <a:endParaRPr/>
          </a:p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Role-based, bilingual web platform for standing organizational deployment.</a:t>
            </a:r>
          </a:p>
          <a:p xmlns:a="http://schemas.openxmlformats.org/drawingml/2006/main">
            <a:pPr algn="just">
              <a:lnSpc>
                <a:spcPts val="3779"/>
              </a:lnSpc>
              <a:spcBef>
                <a:spcPct val="0"/>
              </a:spcBef>
              <a:buNone/>
            </a:pPr>
            <a:endParaRPr sz="2699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2F88AF24-AEB6-4AD4-9758-BB634BF3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861" y="3505043"/>
            <a:ext cx="13471829" cy="6220815"/>
          </a:xfrm>
          <a:custGeom xmlns:a="http://schemas.openxmlformats.org/drawingml/2006/main">
            <a:rect l="l" t="t" r="r" b="b"/>
            <a:pathLst>
              <a:path w="13471829" h="6220815">
                <a:moveTo>
                  <a:pt x="0" y="0"/>
                </a:moveTo>
                <a:lnTo>
                  <a:pt x="13471828" y="0"/>
                </a:lnTo>
                <a:lnTo>
                  <a:pt x="13471828" y="6220815"/>
                </a:lnTo>
                <a:lnTo>
                  <a:pt x="0" y="62208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fb6ae0833c74e86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434836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AB3E6F67-78D5-4C47-B437-15D07008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119" y="1897162"/>
            <a:ext cx="14204390" cy="776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36"/>
              </a:lnSpc>
              <a:spcBef>
                <a:spcPct val="0"/>
              </a:spcBef>
              <a:buNone/>
            </a:pPr>
            <a:r>
              <a:rPr sz="5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Study Objectives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3985333-0CCF-4684-94FF-686CF5DE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422916a2ca406a">
              <a:extLst>
                <a:ext uri="{96DAC541-7B7A-43D3-8B79-37D633B846F1}">
                  <asvg:svgBlip xmlns:asvg="http://schemas.microsoft.com/office/drawing/2016/SVG/main" r:embed="R554550de3bdf490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5BC71F0-CE7F-4898-9E39-94A58ED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422916a2ca406a">
              <a:extLst>
                <a:ext uri="{96DAC541-7B7A-43D3-8B79-37D633B846F1}">
                  <asvg:svgBlip xmlns:asvg="http://schemas.microsoft.com/office/drawing/2016/SVG/main" r:embed="R554550de3bdf490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3373579-3675-4207-8AA6-03C4FE19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7907"/>
            <a:ext cx="16230600" cy="28795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General Objective: Design, build, and empirically validate NOVAQ to improve checkout service performance and minimize operating cost. </a:t>
            </a:r>
          </a:p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Build a multi-model engine and compute baseline metrics for 13 averaged hourly intervals. </a:t>
            </a:r>
          </a:p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Optimize cashier staffing toward ρ ≤ 0.70 and quantify operational cost savings. </a:t>
            </a:r>
          </a:p>
          <a:p xmlns:a="http://schemas.openxmlformats.org/drawingml/2006/main">
            <a:pPr marL="582928" lvl="1" indent="-291464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sz="26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Evaluate robustness through DES and Monte Carlo simulation. Monte Carlo uses ρ &gt; 0.75 as the failure condition and a 5% failure-rate criterion with 95% Wilson intervals. 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6D319C6-F215-4730-B67D-BBFE0EDF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227E8CC-8CFA-4ADA-B3EF-4DD16C1C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62e38202b6e48b7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6157119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8CEA501-82B7-48D1-9E7D-FB97AE47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689" y="-162031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22898be6ba402a">
              <a:extLst>
                <a:ext uri="{96DAC541-7B7A-43D3-8B79-37D633B846F1}">
                  <asvg:svgBlip xmlns:asvg="http://schemas.microsoft.com/office/drawing/2016/SVG/main" r:embed="R1a320df6d7f2474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5E8753B-802C-4969-8E2B-EBFBE0E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91983" y="881108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22898be6ba402a">
              <a:extLst>
                <a:ext uri="{96DAC541-7B7A-43D3-8B79-37D633B846F1}">
                  <asvg:svgBlip xmlns:asvg="http://schemas.microsoft.com/office/drawing/2016/SVG/main" r:embed="R1a320df6d7f2474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7484E73-CBB5-425E-94B9-20D1E8B2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2883" y="949593"/>
            <a:ext cx="2835513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F4C6C94-7ADA-4CC8-8294-B2EBB9DA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78" y="242959"/>
            <a:ext cx="2639015" cy="1759344"/>
          </a:xfrm>
          <a:custGeom xmlns:a="http://schemas.openxmlformats.org/drawingml/2006/main">
            <a:rect l="l" t="t" r="r" b="b"/>
            <a:pathLst>
              <a:path w="3518687" h="2345792">
                <a:moveTo>
                  <a:pt x="0" y="0"/>
                </a:moveTo>
                <a:lnTo>
                  <a:pt x="3518687" y="0"/>
                </a:lnTo>
                <a:lnTo>
                  <a:pt x="3518687" y="2345792"/>
                </a:lnTo>
                <a:lnTo>
                  <a:pt x="0" y="2345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12fee407e640e1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826CE7D-AB9D-45FE-95F2-BFD408FB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78" y="2002303"/>
            <a:ext cx="17882711" cy="7913100"/>
          </a:xfrm>
          <a:custGeom xmlns:a="http://schemas.openxmlformats.org/drawingml/2006/main">
            <a:rect l="l" t="t" r="r" b="b"/>
            <a:pathLst>
              <a:path w="17882711" h="7913100">
                <a:moveTo>
                  <a:pt x="0" y="0"/>
                </a:moveTo>
                <a:lnTo>
                  <a:pt x="17882711" y="0"/>
                </a:lnTo>
                <a:lnTo>
                  <a:pt x="17882711" y="7913099"/>
                </a:lnTo>
                <a:lnTo>
                  <a:pt x="0" y="791309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3c4f0632c340e6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6262407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3332511-DA08-4429-BE34-D3801720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245" y="-1374061"/>
            <a:ext cx="4191000" cy="4114800"/>
          </a:xfrm>
          <a:custGeom xmlns:a="http://schemas.openxmlformats.org/drawingml/2006/main">
            <a:rect l="l" t="t" r="r" b="b"/>
            <a:pathLst>
              <a:path w="4191000" h="4114800">
                <a:moveTo>
                  <a:pt x="0" y="0"/>
                </a:moveTo>
                <a:lnTo>
                  <a:pt x="4191000" y="0"/>
                </a:lnTo>
                <a:lnTo>
                  <a:pt x="4191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4125cd6ec84149">
              <a:extLst>
                <a:ext uri="{96DAC541-7B7A-43D3-8B79-37D633B846F1}">
                  <asvg:svgBlip xmlns:asvg="http://schemas.microsoft.com/office/drawing/2016/SVG/main" r:embed="R7db3d78f34ae4d0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5E2818E-381A-4B44-8CAB-483B3723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883" y="954356"/>
            <a:ext cx="2835513" cy="3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599"/>
              </a:lnSpc>
              <a:spcBef>
                <a:spcPct val="0"/>
              </a:spcBef>
              <a:buNone/>
            </a:pPr>
            <a:r>
              <a:rPr sz="2499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Capstone 2026 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5FE144C-CC7B-4759-87E3-00E129E6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146" y="0"/>
            <a:ext cx="7491708" cy="4994472"/>
          </a:xfrm>
          <a:custGeom xmlns:a="http://schemas.openxmlformats.org/drawingml/2006/main">
            <a:rect l="l" t="t" r="r" b="b"/>
            <a:pathLst>
              <a:path w="7491708" h="4994472">
                <a:moveTo>
                  <a:pt x="0" y="0"/>
                </a:moveTo>
                <a:lnTo>
                  <a:pt x="7491708" y="0"/>
                </a:lnTo>
                <a:lnTo>
                  <a:pt x="7491708" y="4994472"/>
                </a:lnTo>
                <a:lnTo>
                  <a:pt x="0" y="499447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2e060e01a9418d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4F9B9CC-EA21-4D05-81BD-8D314D6D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40" y="5210175"/>
            <a:ext cx="15834320" cy="3161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5"/>
              </a:lnSpc>
              <a:buNone/>
            </a:pPr>
            <a:r>
              <a:rPr sz="7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THANK YOU </a:t>
            </a:r>
          </a:p>
          <a:p xmlns:a="http://schemas.openxmlformats.org/drawingml/2006/main">
            <a:pPr algn="ctr">
              <a:lnSpc>
                <a:spcPts val="8255"/>
              </a:lnSpc>
              <a:buNone/>
            </a:pPr>
            <a:r>
              <a:rPr sz="7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FOR </a:t>
            </a:r>
          </a:p>
          <a:p xmlns:a="http://schemas.openxmlformats.org/drawingml/2006/main">
            <a:pPr marL="0" lvl="0" indent="0" algn="ctr">
              <a:lnSpc>
                <a:spcPts val="8255"/>
              </a:lnSpc>
              <a:spcBef>
                <a:spcPct val="0"/>
              </a:spcBef>
              <a:buNone/>
            </a:pPr>
            <a:r>
              <a:rPr sz="7437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LISTENING</a:t>
            </a:r>
          </a:p>
        </p:txBody>
      </p:sp>
    </p:spTree>
    <p:extLst>
      <p:ext uri="{BB962C8B-B14F-4D97-AF65-F5344CB8AC3E}">
        <p14:creationId xmlns:p14="http://schemas.microsoft.com/office/powerpoint/2010/main" val="196641482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2026-09-05T08:03:46.4230000Z</dcterms:created>
  <dcterms:modified xsi:type="dcterms:W3CDTF">2026-09-05T08:03:46.4230000Z</dcterms:modified>
</coreProperties>
</file>